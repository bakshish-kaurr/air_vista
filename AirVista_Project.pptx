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77" r:id="rId4"/>
    <p:sldId id="27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embeddedFontLst>
    <p:embeddedFont>
      <p:font typeface="Inter" panose="020B0604020202020204" charset="0"/>
      <p:regular r:id="rId26"/>
      <p:bold r:id="rId27"/>
      <p:italic r:id="rId28"/>
      <p:boldItalic r:id="rId29"/>
    </p:embeddedFont>
    <p:embeddedFont>
      <p:font typeface="JetBrains Mono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E1ED0B-E05B-49ED-94FA-2EFB16C0CED4}">
  <a:tblStyle styleId="{D8E1ED0B-E05B-49ED-94FA-2EFB16C0CED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C8E05C1F-2479-FC67-108B-CCB40FE59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127CE370-3115-8C2B-E56E-4A2A7ADA4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8196C718-1D7D-37AB-8385-3A80ED3071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9060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02DF6095-BF89-A79F-EB35-271E063B1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2DA0BB63-038A-4106-4514-CD0D576E5A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21450D1-C00A-3250-33C0-A46D8458F7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7174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325810" y="2732782"/>
            <a:ext cx="5540379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Air Vista Database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081337" y="3593752"/>
            <a:ext cx="60293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6B7280"/>
                </a:solidFill>
                <a:latin typeface="Inter"/>
                <a:ea typeface="Inter"/>
                <a:sym typeface="Inter"/>
              </a:rPr>
              <a:t>Holistic Aviation Data Manager</a:t>
            </a:r>
            <a:endParaRPr dirty="0"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7375" y="1599307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1C188430-188E-B958-0B94-538F255120F6}"/>
              </a:ext>
            </a:extLst>
          </p:cNvPr>
          <p:cNvSpPr txBox="1"/>
          <p:nvPr/>
        </p:nvSpPr>
        <p:spPr>
          <a:xfrm>
            <a:off x="7380515" y="5046047"/>
            <a:ext cx="4529212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Project By: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lvl="0">
              <a:lnSpc>
                <a:spcPct val="160000"/>
              </a:lnSpc>
            </a:pPr>
            <a:r>
              <a:rPr lang="en-US" sz="20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Bakshish Kaur (Roll No. RD2533A05)</a:t>
            </a:r>
            <a:endParaRPr lang="en-US" sz="2000" b="0" i="0" u="none" strike="noStrike" cap="none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" name="Google Shape;89;p13">
            <a:extLst>
              <a:ext uri="{FF2B5EF4-FFF2-40B4-BE49-F238E27FC236}">
                <a16:creationId xmlns:a16="http://schemas.microsoft.com/office/drawing/2014/main" id="{A3E3D942-3B91-288D-8E33-13D8D9AD65C7}"/>
              </a:ext>
            </a:extLst>
          </p:cNvPr>
          <p:cNvSpPr txBox="1"/>
          <p:nvPr/>
        </p:nvSpPr>
        <p:spPr>
          <a:xfrm>
            <a:off x="816731" y="5046048"/>
            <a:ext cx="4529212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Submitted To</a:t>
            </a:r>
            <a:r>
              <a:rPr lang="en-US" sz="20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lvl="0">
              <a:lnSpc>
                <a:spcPct val="160000"/>
              </a:lnSpc>
            </a:pPr>
            <a:r>
              <a:rPr lang="en-US" sz="20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Ms. Amninder Kaur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96;p14" descr="image.png">
            <a:extLst>
              <a:ext uri="{FF2B5EF4-FFF2-40B4-BE49-F238E27FC236}">
                <a16:creationId xmlns:a16="http://schemas.microsoft.com/office/drawing/2014/main" id="{BCD10B9F-7E11-C96A-86D9-ED7C633D30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442293"/>
            <a:ext cx="5238750" cy="52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219200" y="486288"/>
            <a:ext cx="1092136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Problem and Solution</a:t>
            </a:r>
            <a:endParaRPr dirty="0"/>
          </a:p>
        </p:txBody>
      </p:sp>
      <p:sp>
        <p:nvSpPr>
          <p:cNvPr id="97" name="Google Shape;97;p14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19112"/>
            <a:ext cx="504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/>
          <p:nvPr/>
        </p:nvSpPr>
        <p:spPr>
          <a:xfrm>
            <a:off x="576262" y="2846933"/>
            <a:ext cx="3383905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3960167" y="2846933"/>
            <a:ext cx="2652563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612731" y="2846933"/>
            <a:ext cx="5003006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76262" y="326127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3960167" y="326127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612731" y="326127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576262" y="366132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3960167" y="366132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612731" y="366132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576262" y="406137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3960167" y="406137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612731" y="406137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576262" y="446142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3960167" y="446142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6612731" y="446142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576262" y="486147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3960167" y="486147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6612731" y="486147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576262" y="526152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3960167" y="526152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6612731" y="526152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576262" y="566157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3960167" y="566157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6612731" y="566157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95;p14" descr="image.png">
            <a:extLst>
              <a:ext uri="{FF2B5EF4-FFF2-40B4-BE49-F238E27FC236}">
                <a16:creationId xmlns:a16="http://schemas.microsoft.com/office/drawing/2014/main" id="{076F6B6D-E65D-534B-BF6B-E940EBA300E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442293"/>
            <a:ext cx="5238750" cy="52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9;p14">
            <a:extLst>
              <a:ext uri="{FF2B5EF4-FFF2-40B4-BE49-F238E27FC236}">
                <a16:creationId xmlns:a16="http://schemas.microsoft.com/office/drawing/2014/main" id="{C029A1AC-4D70-AF9B-BA49-C32F6D16BC03}"/>
              </a:ext>
            </a:extLst>
          </p:cNvPr>
          <p:cNvSpPr txBox="1"/>
          <p:nvPr/>
        </p:nvSpPr>
        <p:spPr>
          <a:xfrm>
            <a:off x="866775" y="2690068"/>
            <a:ext cx="488061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The Challenge</a:t>
            </a:r>
            <a:endParaRPr/>
          </a:p>
        </p:txBody>
      </p:sp>
      <p:sp>
        <p:nvSpPr>
          <p:cNvPr id="5" name="Google Shape;100;p14">
            <a:extLst>
              <a:ext uri="{FF2B5EF4-FFF2-40B4-BE49-F238E27FC236}">
                <a16:creationId xmlns:a16="http://schemas.microsoft.com/office/drawing/2014/main" id="{4A80CAAA-6967-41F0-6736-40FB4C61B522}"/>
              </a:ext>
            </a:extLst>
          </p:cNvPr>
          <p:cNvSpPr txBox="1"/>
          <p:nvPr/>
        </p:nvSpPr>
        <p:spPr>
          <a:xfrm>
            <a:off x="866775" y="3347293"/>
            <a:ext cx="46482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Aviation data is inherently complex, fragmented, and voluminous. Managing airports, airlines, fleets, and passenger manifests separately leads to:</a:t>
            </a:r>
            <a:endParaRPr dirty="0"/>
          </a:p>
        </p:txBody>
      </p:sp>
      <p:sp>
        <p:nvSpPr>
          <p:cNvPr id="6" name="Google Shape;101;p14">
            <a:extLst>
              <a:ext uri="{FF2B5EF4-FFF2-40B4-BE49-F238E27FC236}">
                <a16:creationId xmlns:a16="http://schemas.microsoft.com/office/drawing/2014/main" id="{5C6D1220-D402-5309-9CCC-C88209EDB964}"/>
              </a:ext>
            </a:extLst>
          </p:cNvPr>
          <p:cNvSpPr txBox="1"/>
          <p:nvPr/>
        </p:nvSpPr>
        <p:spPr>
          <a:xfrm>
            <a:off x="6677025" y="2690068"/>
            <a:ext cx="488061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2100" b="1" i="0" u="none" strike="noStrike" cap="non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AirVista</a:t>
            </a:r>
            <a:r>
              <a:rPr lang="en-US" sz="2100" b="1" i="0" u="none" strike="noStrike" cap="none" dirty="0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Solution</a:t>
            </a:r>
            <a:endParaRPr dirty="0"/>
          </a:p>
        </p:txBody>
      </p:sp>
      <p:sp>
        <p:nvSpPr>
          <p:cNvPr id="7" name="Google Shape;102;p14">
            <a:extLst>
              <a:ext uri="{FF2B5EF4-FFF2-40B4-BE49-F238E27FC236}">
                <a16:creationId xmlns:a16="http://schemas.microsoft.com/office/drawing/2014/main" id="{75A38998-3338-A24A-4E6C-6B54DC1858F8}"/>
              </a:ext>
            </a:extLst>
          </p:cNvPr>
          <p:cNvSpPr txBox="1"/>
          <p:nvPr/>
        </p:nvSpPr>
        <p:spPr>
          <a:xfrm>
            <a:off x="6677025" y="3347293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centralized Relational Database Management System designed to streamline aviation operations.</a:t>
            </a:r>
            <a:endParaRPr/>
          </a:p>
        </p:txBody>
      </p:sp>
      <p:pic>
        <p:nvPicPr>
          <p:cNvPr id="8" name="Google Shape;103;p14" descr="image.png">
            <a:extLst>
              <a:ext uri="{FF2B5EF4-FFF2-40B4-BE49-F238E27FC236}">
                <a16:creationId xmlns:a16="http://schemas.microsoft.com/office/drawing/2014/main" id="{C646B276-3478-AA7C-BCED-D13DCFFB19E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80424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4;p14">
            <a:extLst>
              <a:ext uri="{FF2B5EF4-FFF2-40B4-BE49-F238E27FC236}">
                <a16:creationId xmlns:a16="http://schemas.microsoft.com/office/drawing/2014/main" id="{5B9DBFAE-99B0-FEC0-0C2D-6F7500F8402F}"/>
              </a:ext>
            </a:extLst>
          </p:cNvPr>
          <p:cNvSpPr txBox="1"/>
          <p:nvPr/>
        </p:nvSpPr>
        <p:spPr>
          <a:xfrm>
            <a:off x="1200150" y="4947493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Inconsistent data across departments.</a:t>
            </a:r>
            <a:endParaRPr/>
          </a:p>
        </p:txBody>
      </p:sp>
      <p:sp>
        <p:nvSpPr>
          <p:cNvPr id="10" name="Google Shape;105;p14">
            <a:extLst>
              <a:ext uri="{FF2B5EF4-FFF2-40B4-BE49-F238E27FC236}">
                <a16:creationId xmlns:a16="http://schemas.microsoft.com/office/drawing/2014/main" id="{49ABD5FC-299B-2597-85D5-B6275EBBB894}"/>
              </a:ext>
            </a:extLst>
          </p:cNvPr>
          <p:cNvSpPr txBox="1"/>
          <p:nvPr/>
        </p:nvSpPr>
        <p:spPr>
          <a:xfrm>
            <a:off x="1200150" y="5395168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Delays in status updates.</a:t>
            </a:r>
            <a:endParaRPr/>
          </a:p>
        </p:txBody>
      </p:sp>
      <p:sp>
        <p:nvSpPr>
          <p:cNvPr id="11" name="Google Shape;106;p14">
            <a:extLst>
              <a:ext uri="{FF2B5EF4-FFF2-40B4-BE49-F238E27FC236}">
                <a16:creationId xmlns:a16="http://schemas.microsoft.com/office/drawing/2014/main" id="{D55B4E7F-41FE-F623-6C00-D277B945894A}"/>
              </a:ext>
            </a:extLst>
          </p:cNvPr>
          <p:cNvSpPr txBox="1"/>
          <p:nvPr/>
        </p:nvSpPr>
        <p:spPr>
          <a:xfrm>
            <a:off x="1200150" y="5842843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Difficulty in generating holistic reports.</a:t>
            </a:r>
            <a:endParaRPr/>
          </a:p>
        </p:txBody>
      </p:sp>
      <p:pic>
        <p:nvPicPr>
          <p:cNvPr id="12" name="Google Shape;107;p14" descr="image.png">
            <a:extLst>
              <a:ext uri="{FF2B5EF4-FFF2-40B4-BE49-F238E27FC236}">
                <a16:creationId xmlns:a16="http://schemas.microsoft.com/office/drawing/2014/main" id="{ED1FF86E-618E-40AC-BC0E-4861AB9A8BD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77025" y="180424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08;p14">
            <a:extLst>
              <a:ext uri="{FF2B5EF4-FFF2-40B4-BE49-F238E27FC236}">
                <a16:creationId xmlns:a16="http://schemas.microsoft.com/office/drawing/2014/main" id="{3EF29BC5-4E8B-E29B-010D-5E331BCCE066}"/>
              </a:ext>
            </a:extLst>
          </p:cNvPr>
          <p:cNvSpPr txBox="1"/>
          <p:nvPr/>
        </p:nvSpPr>
        <p:spPr>
          <a:xfrm>
            <a:off x="7010400" y="4604593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Centralized: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Unified schema for all entities.</a:t>
            </a:r>
            <a:endParaRPr/>
          </a:p>
        </p:txBody>
      </p:sp>
      <p:sp>
        <p:nvSpPr>
          <p:cNvPr id="14" name="Google Shape;109;p14">
            <a:extLst>
              <a:ext uri="{FF2B5EF4-FFF2-40B4-BE49-F238E27FC236}">
                <a16:creationId xmlns:a16="http://schemas.microsoft.com/office/drawing/2014/main" id="{54DFB006-D623-ED60-ACE5-E556C1A317F8}"/>
              </a:ext>
            </a:extLst>
          </p:cNvPr>
          <p:cNvSpPr txBox="1"/>
          <p:nvPr/>
        </p:nvSpPr>
        <p:spPr>
          <a:xfrm>
            <a:off x="7010400" y="5052268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Automated: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Triggers for real-time validation.</a:t>
            </a:r>
            <a:endParaRPr/>
          </a:p>
        </p:txBody>
      </p:sp>
      <p:sp>
        <p:nvSpPr>
          <p:cNvPr id="15" name="Google Shape;110;p14">
            <a:extLst>
              <a:ext uri="{FF2B5EF4-FFF2-40B4-BE49-F238E27FC236}">
                <a16:creationId xmlns:a16="http://schemas.microsoft.com/office/drawing/2014/main" id="{C7A398B9-020F-AC47-2C64-FF09CDADACB3}"/>
              </a:ext>
            </a:extLst>
          </p:cNvPr>
          <p:cNvSpPr txBox="1"/>
          <p:nvPr/>
        </p:nvSpPr>
        <p:spPr>
          <a:xfrm>
            <a:off x="7010400" y="5499943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Secure: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Robust integrity constraints.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843017CB-B7B4-A3C6-900F-9E4D69503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>
            <a:extLst>
              <a:ext uri="{FF2B5EF4-FFF2-40B4-BE49-F238E27FC236}">
                <a16:creationId xmlns:a16="http://schemas.microsoft.com/office/drawing/2014/main" id="{868CB0AB-6725-5FD2-6ADE-09C7C712C7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8136DE03-FB1F-457F-3758-D657400FB496}"/>
              </a:ext>
            </a:extLst>
          </p:cNvPr>
          <p:cNvSpPr txBox="1"/>
          <p:nvPr/>
        </p:nvSpPr>
        <p:spPr>
          <a:xfrm>
            <a:off x="694372" y="451076"/>
            <a:ext cx="1092136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Relationships among Tables </a:t>
            </a: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(Schema)</a:t>
            </a:r>
            <a:endParaRPr dirty="0"/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4913BD69-CD2C-9EF4-3A35-C023D3AA7172}"/>
              </a:ext>
            </a:extLst>
          </p:cNvPr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CB6F5A30-0329-BD7C-96DA-48A57A735DB7}"/>
              </a:ext>
            </a:extLst>
          </p:cNvPr>
          <p:cNvSpPr/>
          <p:nvPr/>
        </p:nvSpPr>
        <p:spPr>
          <a:xfrm>
            <a:off x="576262" y="2846933"/>
            <a:ext cx="3383905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C9566A85-56B1-E049-5BAA-FEA1C3281787}"/>
              </a:ext>
            </a:extLst>
          </p:cNvPr>
          <p:cNvSpPr/>
          <p:nvPr/>
        </p:nvSpPr>
        <p:spPr>
          <a:xfrm>
            <a:off x="3960167" y="2846933"/>
            <a:ext cx="2652563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68920430-5D71-B9E8-D6F2-A51256100CFE}"/>
              </a:ext>
            </a:extLst>
          </p:cNvPr>
          <p:cNvSpPr/>
          <p:nvPr/>
        </p:nvSpPr>
        <p:spPr>
          <a:xfrm>
            <a:off x="6612731" y="2846933"/>
            <a:ext cx="5003006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D60A47B8-F0F3-06E4-4B0F-44502DF64F70}"/>
              </a:ext>
            </a:extLst>
          </p:cNvPr>
          <p:cNvSpPr/>
          <p:nvPr/>
        </p:nvSpPr>
        <p:spPr>
          <a:xfrm>
            <a:off x="576262" y="326127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45C9B806-6E11-5D42-54EB-55094AD6B4DD}"/>
              </a:ext>
            </a:extLst>
          </p:cNvPr>
          <p:cNvSpPr/>
          <p:nvPr/>
        </p:nvSpPr>
        <p:spPr>
          <a:xfrm>
            <a:off x="3960167" y="326127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2CB3E625-1296-435F-E004-A9E7BC39CC47}"/>
              </a:ext>
            </a:extLst>
          </p:cNvPr>
          <p:cNvSpPr/>
          <p:nvPr/>
        </p:nvSpPr>
        <p:spPr>
          <a:xfrm>
            <a:off x="6612731" y="326127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>
            <a:extLst>
              <a:ext uri="{FF2B5EF4-FFF2-40B4-BE49-F238E27FC236}">
                <a16:creationId xmlns:a16="http://schemas.microsoft.com/office/drawing/2014/main" id="{D0073BB5-4250-7282-7B22-039E8D51671D}"/>
              </a:ext>
            </a:extLst>
          </p:cNvPr>
          <p:cNvSpPr/>
          <p:nvPr/>
        </p:nvSpPr>
        <p:spPr>
          <a:xfrm>
            <a:off x="576262" y="366132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5091A6F8-0223-1C0A-1FA0-DF3BAA0BEFBE}"/>
              </a:ext>
            </a:extLst>
          </p:cNvPr>
          <p:cNvSpPr/>
          <p:nvPr/>
        </p:nvSpPr>
        <p:spPr>
          <a:xfrm>
            <a:off x="3960167" y="366132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370067D2-DE0A-ADE2-BF0D-981583A17174}"/>
              </a:ext>
            </a:extLst>
          </p:cNvPr>
          <p:cNvSpPr/>
          <p:nvPr/>
        </p:nvSpPr>
        <p:spPr>
          <a:xfrm>
            <a:off x="6612731" y="366132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B1415015-575F-5047-CA45-86B6A8DEF209}"/>
              </a:ext>
            </a:extLst>
          </p:cNvPr>
          <p:cNvSpPr/>
          <p:nvPr/>
        </p:nvSpPr>
        <p:spPr>
          <a:xfrm>
            <a:off x="576262" y="406137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09FF55EA-D76B-AEC5-2C0C-104EC7CF6988}"/>
              </a:ext>
            </a:extLst>
          </p:cNvPr>
          <p:cNvSpPr/>
          <p:nvPr/>
        </p:nvSpPr>
        <p:spPr>
          <a:xfrm>
            <a:off x="3960167" y="406137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7661620B-54D4-8771-B630-6902E7E3FD24}"/>
              </a:ext>
            </a:extLst>
          </p:cNvPr>
          <p:cNvSpPr/>
          <p:nvPr/>
        </p:nvSpPr>
        <p:spPr>
          <a:xfrm>
            <a:off x="6612731" y="406137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>
            <a:extLst>
              <a:ext uri="{FF2B5EF4-FFF2-40B4-BE49-F238E27FC236}">
                <a16:creationId xmlns:a16="http://schemas.microsoft.com/office/drawing/2014/main" id="{CD80AC4D-22B7-B0ED-BDFB-9D45EF3B7A50}"/>
              </a:ext>
            </a:extLst>
          </p:cNvPr>
          <p:cNvSpPr/>
          <p:nvPr/>
        </p:nvSpPr>
        <p:spPr>
          <a:xfrm>
            <a:off x="576262" y="446142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>
            <a:extLst>
              <a:ext uri="{FF2B5EF4-FFF2-40B4-BE49-F238E27FC236}">
                <a16:creationId xmlns:a16="http://schemas.microsoft.com/office/drawing/2014/main" id="{CD151A8E-CC21-5156-48D3-21ADE434B86A}"/>
              </a:ext>
            </a:extLst>
          </p:cNvPr>
          <p:cNvSpPr/>
          <p:nvPr/>
        </p:nvSpPr>
        <p:spPr>
          <a:xfrm>
            <a:off x="3960167" y="446142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>
            <a:extLst>
              <a:ext uri="{FF2B5EF4-FFF2-40B4-BE49-F238E27FC236}">
                <a16:creationId xmlns:a16="http://schemas.microsoft.com/office/drawing/2014/main" id="{1C0D984E-1C07-5E4D-707F-28FE9062BB1B}"/>
              </a:ext>
            </a:extLst>
          </p:cNvPr>
          <p:cNvSpPr/>
          <p:nvPr/>
        </p:nvSpPr>
        <p:spPr>
          <a:xfrm>
            <a:off x="6612731" y="446142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>
            <a:extLst>
              <a:ext uri="{FF2B5EF4-FFF2-40B4-BE49-F238E27FC236}">
                <a16:creationId xmlns:a16="http://schemas.microsoft.com/office/drawing/2014/main" id="{21811F08-18F4-38AB-1319-48F49F84821A}"/>
              </a:ext>
            </a:extLst>
          </p:cNvPr>
          <p:cNvSpPr/>
          <p:nvPr/>
        </p:nvSpPr>
        <p:spPr>
          <a:xfrm>
            <a:off x="576262" y="486147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>
            <a:extLst>
              <a:ext uri="{FF2B5EF4-FFF2-40B4-BE49-F238E27FC236}">
                <a16:creationId xmlns:a16="http://schemas.microsoft.com/office/drawing/2014/main" id="{30A6613C-855A-B4AB-8BE7-59D6BAB6623B}"/>
              </a:ext>
            </a:extLst>
          </p:cNvPr>
          <p:cNvSpPr/>
          <p:nvPr/>
        </p:nvSpPr>
        <p:spPr>
          <a:xfrm>
            <a:off x="3960167" y="486147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>
            <a:extLst>
              <a:ext uri="{FF2B5EF4-FFF2-40B4-BE49-F238E27FC236}">
                <a16:creationId xmlns:a16="http://schemas.microsoft.com/office/drawing/2014/main" id="{ABE8245D-BE5B-C511-F7C8-1330C3CE4174}"/>
              </a:ext>
            </a:extLst>
          </p:cNvPr>
          <p:cNvSpPr/>
          <p:nvPr/>
        </p:nvSpPr>
        <p:spPr>
          <a:xfrm>
            <a:off x="6612731" y="486147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>
            <a:extLst>
              <a:ext uri="{FF2B5EF4-FFF2-40B4-BE49-F238E27FC236}">
                <a16:creationId xmlns:a16="http://schemas.microsoft.com/office/drawing/2014/main" id="{8BC436EE-049B-AF14-6642-A4BBC156AEDD}"/>
              </a:ext>
            </a:extLst>
          </p:cNvPr>
          <p:cNvSpPr/>
          <p:nvPr/>
        </p:nvSpPr>
        <p:spPr>
          <a:xfrm>
            <a:off x="576262" y="526152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>
            <a:extLst>
              <a:ext uri="{FF2B5EF4-FFF2-40B4-BE49-F238E27FC236}">
                <a16:creationId xmlns:a16="http://schemas.microsoft.com/office/drawing/2014/main" id="{07B92AC2-D07D-0740-9A72-F2F66D7941E1}"/>
              </a:ext>
            </a:extLst>
          </p:cNvPr>
          <p:cNvSpPr/>
          <p:nvPr/>
        </p:nvSpPr>
        <p:spPr>
          <a:xfrm>
            <a:off x="3960167" y="526152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>
            <a:extLst>
              <a:ext uri="{FF2B5EF4-FFF2-40B4-BE49-F238E27FC236}">
                <a16:creationId xmlns:a16="http://schemas.microsoft.com/office/drawing/2014/main" id="{0D4B4F6E-6028-679D-CA08-F48E5B66E9B1}"/>
              </a:ext>
            </a:extLst>
          </p:cNvPr>
          <p:cNvSpPr/>
          <p:nvPr/>
        </p:nvSpPr>
        <p:spPr>
          <a:xfrm>
            <a:off x="6612731" y="526152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>
            <a:extLst>
              <a:ext uri="{FF2B5EF4-FFF2-40B4-BE49-F238E27FC236}">
                <a16:creationId xmlns:a16="http://schemas.microsoft.com/office/drawing/2014/main" id="{C2F13B9A-A86B-35FC-889B-F5E990B52D38}"/>
              </a:ext>
            </a:extLst>
          </p:cNvPr>
          <p:cNvSpPr/>
          <p:nvPr/>
        </p:nvSpPr>
        <p:spPr>
          <a:xfrm>
            <a:off x="576262" y="566157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>
            <a:extLst>
              <a:ext uri="{FF2B5EF4-FFF2-40B4-BE49-F238E27FC236}">
                <a16:creationId xmlns:a16="http://schemas.microsoft.com/office/drawing/2014/main" id="{C3DC6D57-ABFE-1175-0D49-3C25648B4A39}"/>
              </a:ext>
            </a:extLst>
          </p:cNvPr>
          <p:cNvSpPr/>
          <p:nvPr/>
        </p:nvSpPr>
        <p:spPr>
          <a:xfrm>
            <a:off x="3960167" y="566157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>
            <a:extLst>
              <a:ext uri="{FF2B5EF4-FFF2-40B4-BE49-F238E27FC236}">
                <a16:creationId xmlns:a16="http://schemas.microsoft.com/office/drawing/2014/main" id="{3A562BDB-DAD2-BA89-42B9-532D99C321AC}"/>
              </a:ext>
            </a:extLst>
          </p:cNvPr>
          <p:cNvSpPr/>
          <p:nvPr/>
        </p:nvSpPr>
        <p:spPr>
          <a:xfrm>
            <a:off x="6612731" y="566157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2D17A0-727D-4505-590E-84ADE4158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627" y="1123950"/>
            <a:ext cx="9953943" cy="564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866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C2DBD19B-CD83-F3C7-E369-0F67F59C0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>
            <a:extLst>
              <a:ext uri="{FF2B5EF4-FFF2-40B4-BE49-F238E27FC236}">
                <a16:creationId xmlns:a16="http://schemas.microsoft.com/office/drawing/2014/main" id="{F07D79ED-08C3-0E75-4ECD-FDBB48C921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49444B33-781D-6282-0BCE-A2279AA45ACC}"/>
              </a:ext>
            </a:extLst>
          </p:cNvPr>
          <p:cNvSpPr txBox="1"/>
          <p:nvPr/>
        </p:nvSpPr>
        <p:spPr>
          <a:xfrm>
            <a:off x="1219200" y="476250"/>
            <a:ext cx="1092136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Table: Airports</a:t>
            </a:r>
            <a:endParaRPr/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7FEB0B21-E175-4273-2C6A-3AE76E8B4ED3}"/>
              </a:ext>
            </a:extLst>
          </p:cNvPr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4" descr="image.png">
            <a:extLst>
              <a:ext uri="{FF2B5EF4-FFF2-40B4-BE49-F238E27FC236}">
                <a16:creationId xmlns:a16="http://schemas.microsoft.com/office/drawing/2014/main" id="{7C8F9C9D-FB94-D687-B065-593FCF5B042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9112"/>
            <a:ext cx="504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2EEE8274-81EA-A632-B1D6-3AFA39B2C695}"/>
              </a:ext>
            </a:extLst>
          </p:cNvPr>
          <p:cNvSpPr txBox="1"/>
          <p:nvPr/>
        </p:nvSpPr>
        <p:spPr>
          <a:xfrm>
            <a:off x="571500" y="198209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The foundation of the network, defining physical locations.</a:t>
            </a:r>
            <a:endParaRPr/>
          </a:p>
        </p:txBody>
      </p:sp>
      <p:graphicFrame>
        <p:nvGraphicFramePr>
          <p:cNvPr id="101" name="Google Shape;101;p14">
            <a:extLst>
              <a:ext uri="{FF2B5EF4-FFF2-40B4-BE49-F238E27FC236}">
                <a16:creationId xmlns:a16="http://schemas.microsoft.com/office/drawing/2014/main" id="{953115F8-410D-3D36-49CA-83E06DB4777D}"/>
              </a:ext>
            </a:extLst>
          </p:cNvPr>
          <p:cNvGraphicFramePr/>
          <p:nvPr/>
        </p:nvGraphicFramePr>
        <p:xfrm>
          <a:off x="571500" y="2427833"/>
          <a:ext cx="11039475" cy="3648150"/>
        </p:xfrm>
        <a:graphic>
          <a:graphicData uri="http://schemas.openxmlformats.org/drawingml/2006/table">
            <a:tbl>
              <a:tblPr firstRow="1" bandRow="1">
                <a:noFill/>
                <a:tableStyleId>{D8E1ED0B-E05B-49ED-94FA-2EFB16C0CED4}</a:tableStyleId>
              </a:tblPr>
              <a:tblGrid>
                <a:gridCol w="338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Column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Constraints / 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PK AirportID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Identity(1,1), Primary Key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AirportCode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VARCHAR(10)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Unique, Not Null (e.g., 'JFK')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AirportName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VARCHAR(100)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Null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VARCHAR(50)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Null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Country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VARCHAR(50)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Null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TotalRunways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Default 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TotalGates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Default 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CreatedDate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DATETIME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Default GetDate()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21F11E78-72F9-1D5E-22B0-DEA4AF2B7086}"/>
              </a:ext>
            </a:extLst>
          </p:cNvPr>
          <p:cNvSpPr/>
          <p:nvPr/>
        </p:nvSpPr>
        <p:spPr>
          <a:xfrm>
            <a:off x="576262" y="2846933"/>
            <a:ext cx="3383905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471C5E83-6FD4-0D31-9846-CF32D6B3A224}"/>
              </a:ext>
            </a:extLst>
          </p:cNvPr>
          <p:cNvSpPr/>
          <p:nvPr/>
        </p:nvSpPr>
        <p:spPr>
          <a:xfrm>
            <a:off x="3960167" y="2846933"/>
            <a:ext cx="2652563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FD761FC0-CFF5-EF1F-CFBF-B7C812EB361F}"/>
              </a:ext>
            </a:extLst>
          </p:cNvPr>
          <p:cNvSpPr/>
          <p:nvPr/>
        </p:nvSpPr>
        <p:spPr>
          <a:xfrm>
            <a:off x="6612731" y="2846933"/>
            <a:ext cx="5003006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EBF3DC0A-2C60-CCA1-6C8F-990080924D15}"/>
              </a:ext>
            </a:extLst>
          </p:cNvPr>
          <p:cNvSpPr/>
          <p:nvPr/>
        </p:nvSpPr>
        <p:spPr>
          <a:xfrm>
            <a:off x="576262" y="326127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6C3CB67A-6D46-897D-5361-E3EE54D53E41}"/>
              </a:ext>
            </a:extLst>
          </p:cNvPr>
          <p:cNvSpPr/>
          <p:nvPr/>
        </p:nvSpPr>
        <p:spPr>
          <a:xfrm>
            <a:off x="3960167" y="326127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9E0AAEFB-E320-9824-FD8E-92AA8B937505}"/>
              </a:ext>
            </a:extLst>
          </p:cNvPr>
          <p:cNvSpPr/>
          <p:nvPr/>
        </p:nvSpPr>
        <p:spPr>
          <a:xfrm>
            <a:off x="6612731" y="326127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>
            <a:extLst>
              <a:ext uri="{FF2B5EF4-FFF2-40B4-BE49-F238E27FC236}">
                <a16:creationId xmlns:a16="http://schemas.microsoft.com/office/drawing/2014/main" id="{719FE439-E2C0-7ACF-F6EC-6CEFCB204741}"/>
              </a:ext>
            </a:extLst>
          </p:cNvPr>
          <p:cNvSpPr/>
          <p:nvPr/>
        </p:nvSpPr>
        <p:spPr>
          <a:xfrm>
            <a:off x="576262" y="366132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596F53DA-7D0F-5FD6-AA10-17F0F7CFD498}"/>
              </a:ext>
            </a:extLst>
          </p:cNvPr>
          <p:cNvSpPr/>
          <p:nvPr/>
        </p:nvSpPr>
        <p:spPr>
          <a:xfrm>
            <a:off x="3960167" y="366132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6801B714-79D2-7FD7-6203-8E1CCF623E77}"/>
              </a:ext>
            </a:extLst>
          </p:cNvPr>
          <p:cNvSpPr/>
          <p:nvPr/>
        </p:nvSpPr>
        <p:spPr>
          <a:xfrm>
            <a:off x="6612731" y="366132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DC1B934D-750E-CFE5-17DB-DAF02423F22D}"/>
              </a:ext>
            </a:extLst>
          </p:cNvPr>
          <p:cNvSpPr/>
          <p:nvPr/>
        </p:nvSpPr>
        <p:spPr>
          <a:xfrm>
            <a:off x="576262" y="406137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90718DD7-CE6B-A86B-4B16-8AAD1C560F67}"/>
              </a:ext>
            </a:extLst>
          </p:cNvPr>
          <p:cNvSpPr/>
          <p:nvPr/>
        </p:nvSpPr>
        <p:spPr>
          <a:xfrm>
            <a:off x="3960167" y="406137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1E6CD59A-3DF0-B8CE-FED8-A0E88E839F8D}"/>
              </a:ext>
            </a:extLst>
          </p:cNvPr>
          <p:cNvSpPr/>
          <p:nvPr/>
        </p:nvSpPr>
        <p:spPr>
          <a:xfrm>
            <a:off x="6612731" y="406137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>
            <a:extLst>
              <a:ext uri="{FF2B5EF4-FFF2-40B4-BE49-F238E27FC236}">
                <a16:creationId xmlns:a16="http://schemas.microsoft.com/office/drawing/2014/main" id="{7F1FB2B8-1A2F-5BF0-25C6-53D117C649A5}"/>
              </a:ext>
            </a:extLst>
          </p:cNvPr>
          <p:cNvSpPr/>
          <p:nvPr/>
        </p:nvSpPr>
        <p:spPr>
          <a:xfrm>
            <a:off x="576262" y="446142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>
            <a:extLst>
              <a:ext uri="{FF2B5EF4-FFF2-40B4-BE49-F238E27FC236}">
                <a16:creationId xmlns:a16="http://schemas.microsoft.com/office/drawing/2014/main" id="{58ABECFD-0E2D-3B17-17F0-71C0E841E3DB}"/>
              </a:ext>
            </a:extLst>
          </p:cNvPr>
          <p:cNvSpPr/>
          <p:nvPr/>
        </p:nvSpPr>
        <p:spPr>
          <a:xfrm>
            <a:off x="3960167" y="446142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>
            <a:extLst>
              <a:ext uri="{FF2B5EF4-FFF2-40B4-BE49-F238E27FC236}">
                <a16:creationId xmlns:a16="http://schemas.microsoft.com/office/drawing/2014/main" id="{82DF065B-DB27-6336-FCBA-B47D2AB22BB9}"/>
              </a:ext>
            </a:extLst>
          </p:cNvPr>
          <p:cNvSpPr/>
          <p:nvPr/>
        </p:nvSpPr>
        <p:spPr>
          <a:xfrm>
            <a:off x="6612731" y="446142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>
            <a:extLst>
              <a:ext uri="{FF2B5EF4-FFF2-40B4-BE49-F238E27FC236}">
                <a16:creationId xmlns:a16="http://schemas.microsoft.com/office/drawing/2014/main" id="{40CA06C4-7DCE-A0DA-1BEA-F2048E6665E2}"/>
              </a:ext>
            </a:extLst>
          </p:cNvPr>
          <p:cNvSpPr/>
          <p:nvPr/>
        </p:nvSpPr>
        <p:spPr>
          <a:xfrm>
            <a:off x="576262" y="486147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>
            <a:extLst>
              <a:ext uri="{FF2B5EF4-FFF2-40B4-BE49-F238E27FC236}">
                <a16:creationId xmlns:a16="http://schemas.microsoft.com/office/drawing/2014/main" id="{E0B5913A-7960-3536-719A-575AF3635723}"/>
              </a:ext>
            </a:extLst>
          </p:cNvPr>
          <p:cNvSpPr/>
          <p:nvPr/>
        </p:nvSpPr>
        <p:spPr>
          <a:xfrm>
            <a:off x="3960167" y="486147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>
            <a:extLst>
              <a:ext uri="{FF2B5EF4-FFF2-40B4-BE49-F238E27FC236}">
                <a16:creationId xmlns:a16="http://schemas.microsoft.com/office/drawing/2014/main" id="{DEC1A595-4A96-674B-FDC3-67A9FF9D8601}"/>
              </a:ext>
            </a:extLst>
          </p:cNvPr>
          <p:cNvSpPr/>
          <p:nvPr/>
        </p:nvSpPr>
        <p:spPr>
          <a:xfrm>
            <a:off x="6612731" y="486147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>
            <a:extLst>
              <a:ext uri="{FF2B5EF4-FFF2-40B4-BE49-F238E27FC236}">
                <a16:creationId xmlns:a16="http://schemas.microsoft.com/office/drawing/2014/main" id="{4309E5B3-32E2-929F-D459-DA6BB2859034}"/>
              </a:ext>
            </a:extLst>
          </p:cNvPr>
          <p:cNvSpPr/>
          <p:nvPr/>
        </p:nvSpPr>
        <p:spPr>
          <a:xfrm>
            <a:off x="576262" y="526152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>
            <a:extLst>
              <a:ext uri="{FF2B5EF4-FFF2-40B4-BE49-F238E27FC236}">
                <a16:creationId xmlns:a16="http://schemas.microsoft.com/office/drawing/2014/main" id="{3753A132-4C7E-8084-7756-96EA3D5EF068}"/>
              </a:ext>
            </a:extLst>
          </p:cNvPr>
          <p:cNvSpPr/>
          <p:nvPr/>
        </p:nvSpPr>
        <p:spPr>
          <a:xfrm>
            <a:off x="3960167" y="526152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>
            <a:extLst>
              <a:ext uri="{FF2B5EF4-FFF2-40B4-BE49-F238E27FC236}">
                <a16:creationId xmlns:a16="http://schemas.microsoft.com/office/drawing/2014/main" id="{C80BB574-C613-69C0-DA0B-6B2598B8511D}"/>
              </a:ext>
            </a:extLst>
          </p:cNvPr>
          <p:cNvSpPr/>
          <p:nvPr/>
        </p:nvSpPr>
        <p:spPr>
          <a:xfrm>
            <a:off x="6612731" y="526152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>
            <a:extLst>
              <a:ext uri="{FF2B5EF4-FFF2-40B4-BE49-F238E27FC236}">
                <a16:creationId xmlns:a16="http://schemas.microsoft.com/office/drawing/2014/main" id="{89D6FA99-CBD4-D49F-D2A4-42657195CA12}"/>
              </a:ext>
            </a:extLst>
          </p:cNvPr>
          <p:cNvSpPr/>
          <p:nvPr/>
        </p:nvSpPr>
        <p:spPr>
          <a:xfrm>
            <a:off x="576262" y="5661570"/>
            <a:ext cx="33839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>
            <a:extLst>
              <a:ext uri="{FF2B5EF4-FFF2-40B4-BE49-F238E27FC236}">
                <a16:creationId xmlns:a16="http://schemas.microsoft.com/office/drawing/2014/main" id="{B13443BB-D95B-B5B4-F008-86BC592CB020}"/>
              </a:ext>
            </a:extLst>
          </p:cNvPr>
          <p:cNvSpPr/>
          <p:nvPr/>
        </p:nvSpPr>
        <p:spPr>
          <a:xfrm>
            <a:off x="3960167" y="5661570"/>
            <a:ext cx="265256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>
            <a:extLst>
              <a:ext uri="{FF2B5EF4-FFF2-40B4-BE49-F238E27FC236}">
                <a16:creationId xmlns:a16="http://schemas.microsoft.com/office/drawing/2014/main" id="{58E33AC9-95CB-AC2D-FF1D-A9F3DA7ED202}"/>
              </a:ext>
            </a:extLst>
          </p:cNvPr>
          <p:cNvSpPr/>
          <p:nvPr/>
        </p:nvSpPr>
        <p:spPr>
          <a:xfrm>
            <a:off x="6612731" y="5661570"/>
            <a:ext cx="500300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7300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1019175" y="476250"/>
            <a:ext cx="11131391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Table: Airlines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9112"/>
            <a:ext cx="3048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571500" y="198209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Stores operator information and contact details.</a:t>
            </a:r>
            <a:endParaRPr/>
          </a:p>
        </p:txBody>
      </p:sp>
      <p:graphicFrame>
        <p:nvGraphicFramePr>
          <p:cNvPr id="136" name="Google Shape;136;p15"/>
          <p:cNvGraphicFramePr/>
          <p:nvPr/>
        </p:nvGraphicFramePr>
        <p:xfrm>
          <a:off x="571500" y="2427833"/>
          <a:ext cx="11039500" cy="3648150"/>
        </p:xfrm>
        <a:graphic>
          <a:graphicData uri="http://schemas.openxmlformats.org/drawingml/2006/table">
            <a:tbl>
              <a:tblPr firstRow="1" bandRow="1">
                <a:noFill/>
                <a:tableStyleId>{D8E1ED0B-E05B-49ED-94FA-2EFB16C0CED4}</a:tableStyleId>
              </a:tblPr>
              <a:tblGrid>
                <a:gridCol w="342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Column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Constraints / 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PK AirlineID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Identity(1,1), Primary Key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AirlineCode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VARCHAR(10)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Unique, Not Null (e.g., 'BA')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AirlineName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VARCHAR(100)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Null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Country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VARCHAR(50)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HQ Country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ContactEmail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VARCHAR(100)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Corporate Contact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ContactPhone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VARCHAR(20)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Support Number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IsActive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BIT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Default 1 (True)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CreatedDate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DATETIME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Default GetDate()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7" name="Google Shape;137;p15"/>
          <p:cNvSpPr/>
          <p:nvPr/>
        </p:nvSpPr>
        <p:spPr>
          <a:xfrm>
            <a:off x="576262" y="2846933"/>
            <a:ext cx="3420219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996481" y="2846933"/>
            <a:ext cx="2680989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6677471" y="2846933"/>
            <a:ext cx="4938266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576262" y="3261270"/>
            <a:ext cx="342021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3996481" y="3261270"/>
            <a:ext cx="268098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6677471" y="3261270"/>
            <a:ext cx="493826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576262" y="3661320"/>
            <a:ext cx="342021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3996481" y="3661320"/>
            <a:ext cx="268098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6677471" y="3661320"/>
            <a:ext cx="493826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576262" y="4061370"/>
            <a:ext cx="342021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3996481" y="4061370"/>
            <a:ext cx="268098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6677471" y="4061370"/>
            <a:ext cx="493826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576262" y="4461420"/>
            <a:ext cx="342021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3996481" y="4461420"/>
            <a:ext cx="268098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6677471" y="4461420"/>
            <a:ext cx="493826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576262" y="4861470"/>
            <a:ext cx="342021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3996481" y="4861470"/>
            <a:ext cx="268098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6677471" y="4861470"/>
            <a:ext cx="493826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576262" y="5261520"/>
            <a:ext cx="342021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3996481" y="5261520"/>
            <a:ext cx="268098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6677471" y="5261520"/>
            <a:ext cx="493826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576262" y="5661570"/>
            <a:ext cx="342021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3996481" y="5661570"/>
            <a:ext cx="268098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6677471" y="5661570"/>
            <a:ext cx="493826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/>
        </p:nvSpPr>
        <p:spPr>
          <a:xfrm>
            <a:off x="1219200" y="476250"/>
            <a:ext cx="1092136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Table: Aircraft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9112"/>
            <a:ext cx="504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 txBox="1"/>
          <p:nvPr/>
        </p:nvSpPr>
        <p:spPr>
          <a:xfrm>
            <a:off x="571500" y="2182117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Physical assets linked to specific Airlines.</a:t>
            </a:r>
            <a:endParaRPr/>
          </a:p>
        </p:txBody>
      </p:sp>
      <p:graphicFrame>
        <p:nvGraphicFramePr>
          <p:cNvPr id="171" name="Google Shape;171;p16"/>
          <p:cNvGraphicFramePr/>
          <p:nvPr/>
        </p:nvGraphicFramePr>
        <p:xfrm>
          <a:off x="571500" y="2627858"/>
          <a:ext cx="11039475" cy="3248000"/>
        </p:xfrm>
        <a:graphic>
          <a:graphicData uri="http://schemas.openxmlformats.org/drawingml/2006/table">
            <a:tbl>
              <a:tblPr firstRow="1" bandRow="1">
                <a:noFill/>
                <a:tableStyleId>{D8E1ED0B-E05B-49ED-94FA-2EFB16C0CED4}</a:tableStyleId>
              </a:tblPr>
              <a:tblGrid>
                <a:gridCol w="341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3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Column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Constraints / 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PK AircraftID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Identity(1,1)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FK AirlineID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Refs Airlines(AirlineID)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RegistrationNumber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VARCHAR(20)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Unique, Not Null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AircraftType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VARCHAR(50)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e.g., 'Boeing 787'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Manufacturer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VARCHAR(50)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e.g., 'Boeing'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TotalSeats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Capacity limit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VARCHAR(20)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Check('Active', 'Maintenance', 'Grounded')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2" name="Google Shape;172;p16"/>
          <p:cNvSpPr/>
          <p:nvPr/>
        </p:nvSpPr>
        <p:spPr>
          <a:xfrm>
            <a:off x="576262" y="3046958"/>
            <a:ext cx="3413968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3990230" y="3046958"/>
            <a:ext cx="1981795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5972026" y="3046958"/>
            <a:ext cx="5643711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576262" y="3461295"/>
            <a:ext cx="341396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3990230" y="3461295"/>
            <a:ext cx="198179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5972026" y="3461295"/>
            <a:ext cx="564371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576262" y="3861345"/>
            <a:ext cx="341396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3990230" y="3861345"/>
            <a:ext cx="198179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5972026" y="3861345"/>
            <a:ext cx="564371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576262" y="4261395"/>
            <a:ext cx="341396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3990230" y="4261395"/>
            <a:ext cx="198179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5972026" y="4261395"/>
            <a:ext cx="564371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576262" y="4661445"/>
            <a:ext cx="341396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3990230" y="4661445"/>
            <a:ext cx="198179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5972026" y="4661445"/>
            <a:ext cx="564371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576262" y="5061495"/>
            <a:ext cx="341396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3990230" y="5061495"/>
            <a:ext cx="198179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/>
          <p:nvPr/>
        </p:nvSpPr>
        <p:spPr>
          <a:xfrm>
            <a:off x="5972026" y="5061495"/>
            <a:ext cx="564371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576262" y="5461545"/>
            <a:ext cx="341396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3990230" y="5461545"/>
            <a:ext cx="198179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5972026" y="5461545"/>
            <a:ext cx="564371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 txBox="1"/>
          <p:nvPr/>
        </p:nvSpPr>
        <p:spPr>
          <a:xfrm>
            <a:off x="1219200" y="476250"/>
            <a:ext cx="1092136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Table: Passengers</a:t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9112"/>
            <a:ext cx="504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 txBox="1"/>
          <p:nvPr/>
        </p:nvSpPr>
        <p:spPr>
          <a:xfrm>
            <a:off x="571500" y="198209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Personal Identification Information (PII) for customers.</a:t>
            </a:r>
            <a:endParaRPr/>
          </a:p>
        </p:txBody>
      </p:sp>
      <p:graphicFrame>
        <p:nvGraphicFramePr>
          <p:cNvPr id="203" name="Google Shape;203;p17"/>
          <p:cNvGraphicFramePr/>
          <p:nvPr/>
        </p:nvGraphicFramePr>
        <p:xfrm>
          <a:off x="571500" y="2427833"/>
          <a:ext cx="11039475" cy="3648150"/>
        </p:xfrm>
        <a:graphic>
          <a:graphicData uri="http://schemas.openxmlformats.org/drawingml/2006/table">
            <a:tbl>
              <a:tblPr firstRow="1" bandRow="1">
                <a:noFill/>
                <a:tableStyleId>{D8E1ED0B-E05B-49ED-94FA-2EFB16C0CED4}</a:tableStyleId>
              </a:tblPr>
              <a:tblGrid>
                <a:gridCol w="378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Column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Constraints / 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PK PassengerID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Identity(1,1)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FirstName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VARCHAR(50)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Null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LastName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VARCHAR(50)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Null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Email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VARCHAR(100)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Indexed for search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Phone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VARCHAR(20)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Contact Info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DateOfBirth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Age verification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PassportNumber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VARCHAR(20)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Unique Constraint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Nationality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VARCHAR(50)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4" name="Google Shape;204;p17"/>
          <p:cNvSpPr/>
          <p:nvPr/>
        </p:nvSpPr>
        <p:spPr>
          <a:xfrm>
            <a:off x="576262" y="2846933"/>
            <a:ext cx="3787378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4363640" y="2846933"/>
            <a:ext cx="2661939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7025580" y="2846933"/>
            <a:ext cx="4590157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576262" y="3261270"/>
            <a:ext cx="378737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4363640" y="3261270"/>
            <a:ext cx="266193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7025580" y="3261270"/>
            <a:ext cx="459015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576262" y="3661320"/>
            <a:ext cx="378737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4363640" y="3661320"/>
            <a:ext cx="266193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7025580" y="3661320"/>
            <a:ext cx="459015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576262" y="4061370"/>
            <a:ext cx="378737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4363640" y="4061370"/>
            <a:ext cx="266193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7025580" y="4061370"/>
            <a:ext cx="459015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576262" y="4461420"/>
            <a:ext cx="378737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4363640" y="4461420"/>
            <a:ext cx="266193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7025580" y="4461420"/>
            <a:ext cx="459015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576262" y="4861470"/>
            <a:ext cx="378737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4363640" y="4861470"/>
            <a:ext cx="266193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7025580" y="4861470"/>
            <a:ext cx="459015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576262" y="5261520"/>
            <a:ext cx="378737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4363640" y="5261520"/>
            <a:ext cx="266193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025580" y="5261520"/>
            <a:ext cx="459015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576262" y="5661570"/>
            <a:ext cx="378737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4363640" y="5661570"/>
            <a:ext cx="266193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7025580" y="5661570"/>
            <a:ext cx="459015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8"/>
          <p:cNvSpPr txBox="1"/>
          <p:nvPr/>
        </p:nvSpPr>
        <p:spPr>
          <a:xfrm>
            <a:off x="1219200" y="476250"/>
            <a:ext cx="1092136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Table: Flights</a:t>
            </a:r>
            <a:endParaRPr/>
          </a:p>
        </p:txBody>
      </p:sp>
      <p:sp>
        <p:nvSpPr>
          <p:cNvPr id="234" name="Google Shape;234;p18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9112"/>
            <a:ext cx="504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8"/>
          <p:cNvSpPr txBox="1"/>
          <p:nvPr/>
        </p:nvSpPr>
        <p:spPr>
          <a:xfrm>
            <a:off x="571500" y="2182117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The central operational table connecting Aircraft, Airlines, and Airports.</a:t>
            </a:r>
            <a:endParaRPr/>
          </a:p>
        </p:txBody>
      </p:sp>
      <p:graphicFrame>
        <p:nvGraphicFramePr>
          <p:cNvPr id="238" name="Google Shape;238;p18"/>
          <p:cNvGraphicFramePr/>
          <p:nvPr/>
        </p:nvGraphicFramePr>
        <p:xfrm>
          <a:off x="571500" y="2627858"/>
          <a:ext cx="11039475" cy="3248000"/>
        </p:xfrm>
        <a:graphic>
          <a:graphicData uri="http://schemas.openxmlformats.org/drawingml/2006/table">
            <a:tbl>
              <a:tblPr firstRow="1" bandRow="1">
                <a:noFill/>
                <a:tableStyleId>{D8E1ED0B-E05B-49ED-94FA-2EFB16C0CED4}</a:tableStyleId>
              </a:tblPr>
              <a:tblGrid>
                <a:gridCol w="449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Column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Constraints / 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PK FlightID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Identity(1,1)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FlightNumber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VARCHAR(20)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Indexed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FK AirlineID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Refs Airlines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FK AircraftID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Refs Aircraft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FK DepartureAirportID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Refs Airports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FK ArrivalAirportID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Refs Airports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VARCHAR(20)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'Scheduled', 'Departed', etc.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9" name="Google Shape;239;p18"/>
          <p:cNvSpPr/>
          <p:nvPr/>
        </p:nvSpPr>
        <p:spPr>
          <a:xfrm>
            <a:off x="576262" y="3046958"/>
            <a:ext cx="4495948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5072211" y="3046958"/>
            <a:ext cx="2183903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7256115" y="3046958"/>
            <a:ext cx="4359622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576262" y="3461295"/>
            <a:ext cx="449594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5072211" y="3461295"/>
            <a:ext cx="218390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7256115" y="3461295"/>
            <a:ext cx="4359622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576262" y="3861345"/>
            <a:ext cx="449594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5072211" y="3861345"/>
            <a:ext cx="218390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7256115" y="3861345"/>
            <a:ext cx="4359622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576262" y="4261395"/>
            <a:ext cx="449594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5072211" y="4261395"/>
            <a:ext cx="218390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7256115" y="4261395"/>
            <a:ext cx="4359622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576262" y="4661445"/>
            <a:ext cx="449594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5072211" y="4661445"/>
            <a:ext cx="218390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7256115" y="4661445"/>
            <a:ext cx="4359622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576262" y="5061495"/>
            <a:ext cx="449594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5072211" y="5061495"/>
            <a:ext cx="218390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7256115" y="5061495"/>
            <a:ext cx="4359622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576262" y="5461545"/>
            <a:ext cx="449594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5072211" y="5461545"/>
            <a:ext cx="218390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7256115" y="5461545"/>
            <a:ext cx="4359622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9"/>
          <p:cNvSpPr txBox="1"/>
          <p:nvPr/>
        </p:nvSpPr>
        <p:spPr>
          <a:xfrm>
            <a:off x="1114425" y="476250"/>
            <a:ext cx="1103137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Table: Flights (Timing Columns)</a:t>
            </a: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9112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9"/>
          <p:cNvSpPr txBox="1"/>
          <p:nvPr/>
        </p:nvSpPr>
        <p:spPr>
          <a:xfrm>
            <a:off x="571500" y="2582167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Continuation of the Flights table schema focusing on timing.</a:t>
            </a:r>
            <a:endParaRPr/>
          </a:p>
        </p:txBody>
      </p:sp>
      <p:graphicFrame>
        <p:nvGraphicFramePr>
          <p:cNvPr id="270" name="Google Shape;270;p19"/>
          <p:cNvGraphicFramePr/>
          <p:nvPr/>
        </p:nvGraphicFramePr>
        <p:xfrm>
          <a:off x="571500" y="3027908"/>
          <a:ext cx="11039475" cy="2447875"/>
        </p:xfrm>
        <a:graphic>
          <a:graphicData uri="http://schemas.openxmlformats.org/drawingml/2006/table">
            <a:tbl>
              <a:tblPr firstRow="1" bandRow="1">
                <a:noFill/>
                <a:tableStyleId>{D8E1ED0B-E05B-49ED-94FA-2EFB16C0CED4}</a:tableStyleId>
              </a:tblPr>
              <a:tblGrid>
                <a:gridCol w="374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Column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Constraints / 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DepartureDateTime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DATETIME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Null, Indexed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ArrivalDateTime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DATETIME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Null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FlightDuration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Minutes (Calculated via Trigger)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GateNumber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VARCHAR(10)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Boarding Gate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CreatedDate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DATETIME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Default GetDate()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1" name="Google Shape;271;p19"/>
          <p:cNvSpPr/>
          <p:nvPr/>
        </p:nvSpPr>
        <p:spPr>
          <a:xfrm>
            <a:off x="576262" y="3447008"/>
            <a:ext cx="3747938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324201" y="3447008"/>
            <a:ext cx="2279005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6603206" y="3447008"/>
            <a:ext cx="5012531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576262" y="3861345"/>
            <a:ext cx="374793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4324201" y="3861345"/>
            <a:ext cx="22790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6603206" y="3861345"/>
            <a:ext cx="501253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576262" y="4261395"/>
            <a:ext cx="374793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4324201" y="4261395"/>
            <a:ext cx="22790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6603206" y="4261395"/>
            <a:ext cx="501253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576262" y="4661445"/>
            <a:ext cx="374793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4324201" y="4661445"/>
            <a:ext cx="22790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6603206" y="4661445"/>
            <a:ext cx="501253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576262" y="5061495"/>
            <a:ext cx="374793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4324201" y="5061495"/>
            <a:ext cx="227900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6603206" y="5061495"/>
            <a:ext cx="501253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0"/>
          <p:cNvSpPr txBox="1"/>
          <p:nvPr/>
        </p:nvSpPr>
        <p:spPr>
          <a:xfrm>
            <a:off x="1162050" y="476250"/>
            <a:ext cx="1098137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Table: Bookings</a:t>
            </a:r>
            <a:endParaRPr/>
          </a:p>
        </p:txBody>
      </p:sp>
      <p:sp>
        <p:nvSpPr>
          <p:cNvPr id="292" name="Google Shape;292;p20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9112"/>
            <a:ext cx="4476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0"/>
          <p:cNvSpPr txBox="1"/>
          <p:nvPr/>
        </p:nvSpPr>
        <p:spPr>
          <a:xfrm>
            <a:off x="571500" y="2182117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Links Passengers to Flights. Represents revenue generation.</a:t>
            </a:r>
            <a:endParaRPr/>
          </a:p>
        </p:txBody>
      </p:sp>
      <p:graphicFrame>
        <p:nvGraphicFramePr>
          <p:cNvPr id="296" name="Google Shape;296;p20"/>
          <p:cNvGraphicFramePr/>
          <p:nvPr/>
        </p:nvGraphicFramePr>
        <p:xfrm>
          <a:off x="571500" y="2627858"/>
          <a:ext cx="11039475" cy="3248000"/>
        </p:xfrm>
        <a:graphic>
          <a:graphicData uri="http://schemas.openxmlformats.org/drawingml/2006/table">
            <a:tbl>
              <a:tblPr firstRow="1" bandRow="1">
                <a:noFill/>
                <a:tableStyleId>{D8E1ED0B-E05B-49ED-94FA-2EFB16C0CED4}</a:tableStyleId>
              </a:tblPr>
              <a:tblGrid>
                <a:gridCol w="368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Column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Constraints / 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PK BookingID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Identity(1,1)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BookingReference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VARCHAR(20)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Unique PNR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FK PassengerID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Refs Passengers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FK FlightID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Refs Flights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SeatClass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VARCHAR(20)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'Economy', 'Business', 'First'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TotalPrice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DECIMAL(10,2)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Cost of ticket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BookingStatus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B556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VARCHAR(20)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'Confirmed', 'Cancelled'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97" name="Google Shape;297;p20"/>
          <p:cNvSpPr/>
          <p:nvPr/>
        </p:nvSpPr>
        <p:spPr>
          <a:xfrm>
            <a:off x="576262" y="3046958"/>
            <a:ext cx="3682751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4259014" y="3046958"/>
            <a:ext cx="2644973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6903987" y="3046958"/>
            <a:ext cx="4711749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576262" y="3461295"/>
            <a:ext cx="368275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4259014" y="3461295"/>
            <a:ext cx="264497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6903987" y="3461295"/>
            <a:ext cx="471174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576262" y="3861345"/>
            <a:ext cx="368275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4259014" y="3861345"/>
            <a:ext cx="264497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6903987" y="3861345"/>
            <a:ext cx="471174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576262" y="4261395"/>
            <a:ext cx="368275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4259014" y="4261395"/>
            <a:ext cx="264497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6903987" y="4261395"/>
            <a:ext cx="471174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576262" y="4661445"/>
            <a:ext cx="368275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4259014" y="4661445"/>
            <a:ext cx="264497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6903987" y="4661445"/>
            <a:ext cx="471174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576262" y="5061495"/>
            <a:ext cx="368275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4259014" y="5061495"/>
            <a:ext cx="264497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6903987" y="5061495"/>
            <a:ext cx="471174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576262" y="5461545"/>
            <a:ext cx="368275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4259014" y="5461545"/>
            <a:ext cx="264497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0"/>
          <p:cNvSpPr/>
          <p:nvPr/>
        </p:nvSpPr>
        <p:spPr>
          <a:xfrm>
            <a:off x="6903987" y="5461545"/>
            <a:ext cx="4711749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1"/>
          <p:cNvSpPr txBox="1"/>
          <p:nvPr/>
        </p:nvSpPr>
        <p:spPr>
          <a:xfrm>
            <a:off x="1114425" y="476250"/>
            <a:ext cx="1103137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Table: Baggage &amp; BaggageAudit</a:t>
            </a:r>
            <a:endParaRPr/>
          </a:p>
        </p:txBody>
      </p:sp>
      <p:sp>
        <p:nvSpPr>
          <p:cNvPr id="324" name="Google Shape;324;p21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9112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1"/>
          <p:cNvSpPr txBox="1"/>
          <p:nvPr/>
        </p:nvSpPr>
        <p:spPr>
          <a:xfrm>
            <a:off x="571500" y="15049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Baggage Table</a:t>
            </a:r>
            <a:endParaRPr/>
          </a:p>
        </p:txBody>
      </p:sp>
      <p:graphicFrame>
        <p:nvGraphicFramePr>
          <p:cNvPr id="328" name="Google Shape;328;p21"/>
          <p:cNvGraphicFramePr/>
          <p:nvPr/>
        </p:nvGraphicFramePr>
        <p:xfrm>
          <a:off x="571500" y="1924050"/>
          <a:ext cx="5276850" cy="2352625"/>
        </p:xfrm>
        <a:graphic>
          <a:graphicData uri="http://schemas.openxmlformats.org/drawingml/2006/table">
            <a:tbl>
              <a:tblPr firstRow="1" bandRow="1">
                <a:noFill/>
                <a:tableStyleId>{D8E1ED0B-E05B-49ED-94FA-2EFB16C0CED4}</a:tableStyleId>
              </a:tblPr>
              <a:tblGrid>
                <a:gridCol w="527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2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PK BaggageID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FK BookingID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BaggageTag (Unique)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Weight (Decimal)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BaggageType (Checked/Carry)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Status (Loaded/Lost/etc.)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9" name="Google Shape;329;p21"/>
          <p:cNvSpPr txBox="1"/>
          <p:nvPr/>
        </p:nvSpPr>
        <p:spPr>
          <a:xfrm>
            <a:off x="6334125" y="15049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BaggageAudit Table</a:t>
            </a:r>
            <a:endParaRPr/>
          </a:p>
        </p:txBody>
      </p:sp>
      <p:sp>
        <p:nvSpPr>
          <p:cNvPr id="330" name="Google Shape;330;p21"/>
          <p:cNvSpPr txBox="1"/>
          <p:nvPr/>
        </p:nvSpPr>
        <p:spPr>
          <a:xfrm>
            <a:off x="6334125" y="1933575"/>
            <a:ext cx="52863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Tracks status changes.</a:t>
            </a:r>
            <a:endParaRPr/>
          </a:p>
        </p:txBody>
      </p:sp>
      <p:graphicFrame>
        <p:nvGraphicFramePr>
          <p:cNvPr id="331" name="Google Shape;331;p21"/>
          <p:cNvGraphicFramePr/>
          <p:nvPr/>
        </p:nvGraphicFramePr>
        <p:xfrm>
          <a:off x="6334125" y="2329755"/>
          <a:ext cx="5276850" cy="2352625"/>
        </p:xfrm>
        <a:graphic>
          <a:graphicData uri="http://schemas.openxmlformats.org/drawingml/2006/table">
            <a:tbl>
              <a:tblPr firstRow="1" bandRow="1">
                <a:noFill/>
                <a:tableStyleId>{D8E1ED0B-E05B-49ED-94FA-2EFB16C0CED4}</a:tableStyleId>
              </a:tblPr>
              <a:tblGrid>
                <a:gridCol w="527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2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PK AuditID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BaggageID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OldStatus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NewStatus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ChangedDate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ChangedBy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2" name="Google Shape;332;p21"/>
          <p:cNvSpPr/>
          <p:nvPr/>
        </p:nvSpPr>
        <p:spPr>
          <a:xfrm>
            <a:off x="576262" y="2309812"/>
            <a:ext cx="527685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6338887" y="2715517"/>
            <a:ext cx="527685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576262" y="2700337"/>
            <a:ext cx="527685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576262" y="3090862"/>
            <a:ext cx="527685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576262" y="3481387"/>
            <a:ext cx="527685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576262" y="3871912"/>
            <a:ext cx="527685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6338887" y="3106042"/>
            <a:ext cx="527685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6338887" y="3496567"/>
            <a:ext cx="527685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6338887" y="3887092"/>
            <a:ext cx="527685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6338887" y="4277617"/>
            <a:ext cx="527685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61320"/>
            <a:ext cx="110490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2"/>
          <p:cNvSpPr txBox="1"/>
          <p:nvPr/>
        </p:nvSpPr>
        <p:spPr>
          <a:xfrm>
            <a:off x="1114425" y="476250"/>
            <a:ext cx="1103137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View: vw_FlightSchedule</a:t>
            </a:r>
            <a:endParaRPr/>
          </a:p>
        </p:txBody>
      </p:sp>
      <p:sp>
        <p:nvSpPr>
          <p:cNvPr id="349" name="Google Shape;349;p22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19112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2"/>
          <p:cNvSpPr txBox="1"/>
          <p:nvPr/>
        </p:nvSpPr>
        <p:spPr>
          <a:xfrm>
            <a:off x="571500" y="321558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Consolidates flight data for display boards.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67992"/>
            <a:ext cx="11049000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3"/>
          <p:cNvSpPr txBox="1"/>
          <p:nvPr/>
        </p:nvSpPr>
        <p:spPr>
          <a:xfrm>
            <a:off x="1114425" y="476250"/>
            <a:ext cx="1103137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View: vw_BookingDetails</a:t>
            </a:r>
            <a:endParaRPr/>
          </a:p>
        </p:txBody>
      </p:sp>
      <p:sp>
        <p:nvSpPr>
          <p:cNvPr id="360" name="Google Shape;360;p23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19112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3"/>
          <p:cNvSpPr txBox="1"/>
          <p:nvPr/>
        </p:nvSpPr>
        <p:spPr>
          <a:xfrm>
            <a:off x="571500" y="302225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Comprehensive manifest for ground staff including passenger PII.</a:t>
            </a:r>
            <a:endParaRPr/>
          </a:p>
        </p:txBody>
      </p:sp>
      <p:sp>
        <p:nvSpPr>
          <p:cNvPr id="364" name="Google Shape;364;p23"/>
          <p:cNvSpPr txBox="1"/>
          <p:nvPr/>
        </p:nvSpPr>
        <p:spPr>
          <a:xfrm>
            <a:off x="571500" y="4639567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Usage:</a:t>
            </a:r>
            <a:r>
              <a:rPr lang="en-US" sz="12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Check-in counters use this to verify identity and seat assignment.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61333"/>
            <a:ext cx="11049000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4"/>
          <p:cNvSpPr txBox="1"/>
          <p:nvPr/>
        </p:nvSpPr>
        <p:spPr>
          <a:xfrm>
            <a:off x="1114425" y="476250"/>
            <a:ext cx="1103137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View: vw_RevenueByAirline</a:t>
            </a:r>
            <a:endParaRPr/>
          </a:p>
        </p:txBody>
      </p:sp>
      <p:sp>
        <p:nvSpPr>
          <p:cNvPr id="372" name="Google Shape;372;p24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19112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4"/>
          <p:cNvSpPr txBox="1"/>
          <p:nvPr/>
        </p:nvSpPr>
        <p:spPr>
          <a:xfrm>
            <a:off x="571500" y="331559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Financial aggregation for management dashboards.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94669"/>
            <a:ext cx="7270700" cy="2697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2594669"/>
            <a:ext cx="3492400" cy="269736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5"/>
          <p:cNvSpPr txBox="1"/>
          <p:nvPr/>
        </p:nvSpPr>
        <p:spPr>
          <a:xfrm>
            <a:off x="1219200" y="476250"/>
            <a:ext cx="1092136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Procedures: Transactional</a:t>
            </a:r>
            <a:endParaRPr/>
          </a:p>
        </p:txBody>
      </p:sp>
      <p:sp>
        <p:nvSpPr>
          <p:cNvPr id="384" name="Google Shape;384;p25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6" name="Google Shape;386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19112"/>
            <a:ext cx="504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5"/>
          <p:cNvSpPr txBox="1"/>
          <p:nvPr/>
        </p:nvSpPr>
        <p:spPr>
          <a:xfrm>
            <a:off x="819150" y="3432869"/>
            <a:ext cx="67754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Inputs: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PassengerID, FlightID, Seat, Class, Price</a:t>
            </a:r>
            <a:endParaRPr/>
          </a:p>
        </p:txBody>
      </p:sp>
      <p:sp>
        <p:nvSpPr>
          <p:cNvPr id="388" name="Google Shape;388;p25"/>
          <p:cNvSpPr txBox="1"/>
          <p:nvPr/>
        </p:nvSpPr>
        <p:spPr>
          <a:xfrm>
            <a:off x="819150" y="3878609"/>
            <a:ext cx="6775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Logic: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Generates a unique BookingReference (BK + Date + Random) and inserts a new record with status 'Confirmed' and Payment 'Pending'.</a:t>
            </a:r>
            <a:endParaRPr/>
          </a:p>
        </p:txBody>
      </p:sp>
      <p:sp>
        <p:nvSpPr>
          <p:cNvPr id="389" name="Google Shape;389;p25"/>
          <p:cNvSpPr txBox="1"/>
          <p:nvPr/>
        </p:nvSpPr>
        <p:spPr>
          <a:xfrm>
            <a:off x="819150" y="4598640"/>
            <a:ext cx="67754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Output: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Returns the generated BookingReference.</a:t>
            </a:r>
            <a:endParaRPr/>
          </a:p>
        </p:txBody>
      </p:sp>
      <p:sp>
        <p:nvSpPr>
          <p:cNvPr id="390" name="Google Shape;390;p25"/>
          <p:cNvSpPr txBox="1"/>
          <p:nvPr/>
        </p:nvSpPr>
        <p:spPr>
          <a:xfrm>
            <a:off x="8375600" y="3432869"/>
            <a:ext cx="29971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Inputs: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FlightID, NewStatus</a:t>
            </a:r>
            <a:endParaRPr/>
          </a:p>
        </p:txBody>
      </p:sp>
      <p:sp>
        <p:nvSpPr>
          <p:cNvPr id="391" name="Google Shape;391;p25"/>
          <p:cNvSpPr txBox="1"/>
          <p:nvPr/>
        </p:nvSpPr>
        <p:spPr>
          <a:xfrm>
            <a:off x="8375600" y="3878609"/>
            <a:ext cx="29971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Logic: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Updates the status column after validating the input against allowed values.</a:t>
            </a:r>
            <a:endParaRPr/>
          </a:p>
        </p:txBody>
      </p:sp>
      <p:pic>
        <p:nvPicPr>
          <p:cNvPr id="392" name="Google Shape;392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937569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5"/>
          <p:cNvSpPr txBox="1"/>
          <p:nvPr/>
        </p:nvSpPr>
        <p:spPr>
          <a:xfrm>
            <a:off x="1190625" y="2842319"/>
            <a:ext cx="16402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sp_BookFlight</a:t>
            </a:r>
            <a:endParaRPr/>
          </a:p>
        </p:txBody>
      </p:sp>
      <p:pic>
        <p:nvPicPr>
          <p:cNvPr id="394" name="Google Shape;394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75600" y="293756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5"/>
          <p:cNvSpPr txBox="1"/>
          <p:nvPr/>
        </p:nvSpPr>
        <p:spPr>
          <a:xfrm>
            <a:off x="8718500" y="2842319"/>
            <a:ext cx="26003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sp_UpdateFlightStatus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5286375" cy="2832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04950"/>
            <a:ext cx="5286375" cy="2525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3508920"/>
            <a:ext cx="4791075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6"/>
          <p:cNvSpPr txBox="1"/>
          <p:nvPr/>
        </p:nvSpPr>
        <p:spPr>
          <a:xfrm>
            <a:off x="1019175" y="476250"/>
            <a:ext cx="11131391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Procedures: Analytical</a:t>
            </a:r>
            <a:endParaRPr/>
          </a:p>
        </p:txBody>
      </p:sp>
      <p:sp>
        <p:nvSpPr>
          <p:cNvPr id="405" name="Google Shape;405;p26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7" name="Google Shape;407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19112"/>
            <a:ext cx="3048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6"/>
          <p:cNvSpPr txBox="1"/>
          <p:nvPr/>
        </p:nvSpPr>
        <p:spPr>
          <a:xfrm>
            <a:off x="819150" y="2343150"/>
            <a:ext cx="47910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Inputs: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FlightNumber, Date</a:t>
            </a:r>
            <a:endParaRPr/>
          </a:p>
        </p:txBody>
      </p:sp>
      <p:sp>
        <p:nvSpPr>
          <p:cNvPr id="409" name="Google Shape;409;p26"/>
          <p:cNvSpPr txBox="1"/>
          <p:nvPr/>
        </p:nvSpPr>
        <p:spPr>
          <a:xfrm>
            <a:off x="819150" y="2788890"/>
            <a:ext cx="47910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Complexity: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High. It joins Flight, Airline, and Aircraft tables. Crucially, it calculates AvailableSeats dynamically:</a:t>
            </a:r>
            <a:endParaRPr/>
          </a:p>
        </p:txBody>
      </p:sp>
      <p:sp>
        <p:nvSpPr>
          <p:cNvPr id="410" name="Google Shape;410;p26"/>
          <p:cNvSpPr txBox="1"/>
          <p:nvPr/>
        </p:nvSpPr>
        <p:spPr>
          <a:xfrm>
            <a:off x="6581775" y="2343150"/>
            <a:ext cx="47910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Inputs: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StartDate, EndDate</a:t>
            </a:r>
            <a:endParaRPr/>
          </a:p>
        </p:txBody>
      </p:sp>
      <p:sp>
        <p:nvSpPr>
          <p:cNvPr id="411" name="Google Shape;411;p26"/>
          <p:cNvSpPr txBox="1"/>
          <p:nvPr/>
        </p:nvSpPr>
        <p:spPr>
          <a:xfrm>
            <a:off x="6581775" y="2788890"/>
            <a:ext cx="47910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Logic: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Filters flights by date range. Pivots revenue data to show breakdown by Seat Class (Economy, Business, First) per airline.</a:t>
            </a:r>
            <a:endParaRPr/>
          </a:p>
        </p:txBody>
      </p:sp>
      <p:pic>
        <p:nvPicPr>
          <p:cNvPr id="412" name="Google Shape;412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18478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6"/>
          <p:cNvSpPr txBox="1"/>
          <p:nvPr/>
        </p:nvSpPr>
        <p:spPr>
          <a:xfrm>
            <a:off x="1162050" y="1752600"/>
            <a:ext cx="216027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sp_GetFlightStatus</a:t>
            </a:r>
            <a:endParaRPr/>
          </a:p>
        </p:txBody>
      </p:sp>
      <p:pic>
        <p:nvPicPr>
          <p:cNvPr id="414" name="Google Shape;414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18478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6"/>
          <p:cNvSpPr txBox="1"/>
          <p:nvPr/>
        </p:nvSpPr>
        <p:spPr>
          <a:xfrm>
            <a:off x="6924675" y="1752600"/>
            <a:ext cx="325040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sp_GenerateRevenueReport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89845"/>
            <a:ext cx="5286375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289845"/>
            <a:ext cx="5286375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7"/>
          <p:cNvSpPr txBox="1"/>
          <p:nvPr/>
        </p:nvSpPr>
        <p:spPr>
          <a:xfrm>
            <a:off x="1019175" y="476250"/>
            <a:ext cx="11131391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User Defined Functions</a:t>
            </a:r>
            <a:endParaRPr/>
          </a:p>
        </p:txBody>
      </p:sp>
      <p:sp>
        <p:nvSpPr>
          <p:cNvPr id="424" name="Google Shape;424;p27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6" name="Google Shape;426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19112"/>
            <a:ext cx="3048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7"/>
          <p:cNvSpPr txBox="1"/>
          <p:nvPr/>
        </p:nvSpPr>
        <p:spPr>
          <a:xfrm>
            <a:off x="571500" y="15049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fn_CalculateOccupancyRate</a:t>
            </a:r>
            <a:endParaRPr/>
          </a:p>
        </p:txBody>
      </p:sp>
      <p:sp>
        <p:nvSpPr>
          <p:cNvPr id="428" name="Google Shape;428;p27"/>
          <p:cNvSpPr txBox="1"/>
          <p:nvPr/>
        </p:nvSpPr>
        <p:spPr>
          <a:xfrm>
            <a:off x="571500" y="195262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Type: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Scalar Function (Returns Decimal)</a:t>
            </a:r>
            <a:endParaRPr/>
          </a:p>
        </p:txBody>
      </p:sp>
      <p:sp>
        <p:nvSpPr>
          <p:cNvPr id="429" name="Google Shape;429;p27"/>
          <p:cNvSpPr txBox="1"/>
          <p:nvPr/>
        </p:nvSpPr>
        <p:spPr>
          <a:xfrm>
            <a:off x="571500" y="239836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Input: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FlightID</a:t>
            </a:r>
            <a:endParaRPr/>
          </a:p>
        </p:txBody>
      </p:sp>
      <p:sp>
        <p:nvSpPr>
          <p:cNvPr id="430" name="Google Shape;430;p27"/>
          <p:cNvSpPr txBox="1"/>
          <p:nvPr/>
        </p:nvSpPr>
        <p:spPr>
          <a:xfrm>
            <a:off x="571500" y="284410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Logic:</a:t>
            </a:r>
            <a:endParaRPr/>
          </a:p>
        </p:txBody>
      </p:sp>
      <p:sp>
        <p:nvSpPr>
          <p:cNvPr id="431" name="Google Shape;431;p27"/>
          <p:cNvSpPr txBox="1"/>
          <p:nvPr/>
        </p:nvSpPr>
        <p:spPr>
          <a:xfrm>
            <a:off x="571500" y="404232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Used in reports to highlight under-performing flights.</a:t>
            </a:r>
            <a:endParaRPr/>
          </a:p>
        </p:txBody>
      </p:sp>
      <p:sp>
        <p:nvSpPr>
          <p:cNvPr id="432" name="Google Shape;432;p27"/>
          <p:cNvSpPr txBox="1"/>
          <p:nvPr/>
        </p:nvSpPr>
        <p:spPr>
          <a:xfrm>
            <a:off x="6334125" y="15049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fn_GetPassengerBookingCount</a:t>
            </a:r>
            <a:endParaRPr/>
          </a:p>
        </p:txBody>
      </p:sp>
      <p:sp>
        <p:nvSpPr>
          <p:cNvPr id="433" name="Google Shape;433;p27"/>
          <p:cNvSpPr txBox="1"/>
          <p:nvPr/>
        </p:nvSpPr>
        <p:spPr>
          <a:xfrm>
            <a:off x="6334125" y="195262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Type: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Scalar Function (Returns Int)</a:t>
            </a:r>
            <a:endParaRPr/>
          </a:p>
        </p:txBody>
      </p:sp>
      <p:sp>
        <p:nvSpPr>
          <p:cNvPr id="434" name="Google Shape;434;p27"/>
          <p:cNvSpPr txBox="1"/>
          <p:nvPr/>
        </p:nvSpPr>
        <p:spPr>
          <a:xfrm>
            <a:off x="6334125" y="239836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Input: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PassengerID</a:t>
            </a:r>
            <a:endParaRPr/>
          </a:p>
        </p:txBody>
      </p:sp>
      <p:sp>
        <p:nvSpPr>
          <p:cNvPr id="435" name="Google Shape;435;p27"/>
          <p:cNvSpPr txBox="1"/>
          <p:nvPr/>
        </p:nvSpPr>
        <p:spPr>
          <a:xfrm>
            <a:off x="6334125" y="284410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Logic:</a:t>
            </a:r>
            <a:endParaRPr/>
          </a:p>
        </p:txBody>
      </p:sp>
      <p:sp>
        <p:nvSpPr>
          <p:cNvPr id="436" name="Google Shape;436;p27"/>
          <p:cNvSpPr txBox="1"/>
          <p:nvPr/>
        </p:nvSpPr>
        <p:spPr>
          <a:xfrm>
            <a:off x="6334125" y="424234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Used to determine frequent flyer status.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31740"/>
            <a:ext cx="5286375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8"/>
          <p:cNvSpPr txBox="1"/>
          <p:nvPr/>
        </p:nvSpPr>
        <p:spPr>
          <a:xfrm>
            <a:off x="1219200" y="476250"/>
            <a:ext cx="1092136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Triggers: Automation</a:t>
            </a:r>
            <a:endParaRPr/>
          </a:p>
        </p:txBody>
      </p:sp>
      <p:sp>
        <p:nvSpPr>
          <p:cNvPr id="444" name="Google Shape;444;p28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19112"/>
            <a:ext cx="504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8"/>
          <p:cNvSpPr txBox="1"/>
          <p:nvPr/>
        </p:nvSpPr>
        <p:spPr>
          <a:xfrm>
            <a:off x="571500" y="1504950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trg_UpdateFlightDuration (AFTER INSERT, UPDATE)</a:t>
            </a:r>
            <a:endParaRPr/>
          </a:p>
        </p:txBody>
      </p:sp>
      <p:sp>
        <p:nvSpPr>
          <p:cNvPr id="448" name="Google Shape;448;p28"/>
          <p:cNvSpPr txBox="1"/>
          <p:nvPr/>
        </p:nvSpPr>
        <p:spPr>
          <a:xfrm>
            <a:off x="571500" y="209550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Automatically maintains data consistency for flight times.</a:t>
            </a:r>
            <a:endParaRPr/>
          </a:p>
        </p:txBody>
      </p:sp>
      <p:sp>
        <p:nvSpPr>
          <p:cNvPr id="449" name="Google Shape;449;p28"/>
          <p:cNvSpPr txBox="1"/>
          <p:nvPr/>
        </p:nvSpPr>
        <p:spPr>
          <a:xfrm>
            <a:off x="6524625" y="3093690"/>
            <a:ext cx="49053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Scenario: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If a flight is delayed and the ArrivalDateTime changes, this trigger automatically recalculates the duration column, ensuring reports are never stale.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15642"/>
            <a:ext cx="110490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9"/>
          <p:cNvSpPr txBox="1"/>
          <p:nvPr/>
        </p:nvSpPr>
        <p:spPr>
          <a:xfrm>
            <a:off x="1114425" y="476250"/>
            <a:ext cx="1103137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Triggers: Data Integrity</a:t>
            </a:r>
            <a:endParaRPr/>
          </a:p>
        </p:txBody>
      </p:sp>
      <p:sp>
        <p:nvSpPr>
          <p:cNvPr id="457" name="Google Shape;457;p29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19112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9"/>
          <p:cNvSpPr txBox="1"/>
          <p:nvPr/>
        </p:nvSpPr>
        <p:spPr>
          <a:xfrm>
            <a:off x="571500" y="2679352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trg_PreventOverbooking (INSTEAD OF INSERT)</a:t>
            </a:r>
            <a:endParaRPr/>
          </a:p>
        </p:txBody>
      </p:sp>
      <p:sp>
        <p:nvSpPr>
          <p:cNvPr id="461" name="Google Shape;461;p29"/>
          <p:cNvSpPr txBox="1"/>
          <p:nvPr/>
        </p:nvSpPr>
        <p:spPr>
          <a:xfrm>
            <a:off x="571500" y="326990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Acts as a gatekeeper for the Bookings table.</a:t>
            </a:r>
            <a:endParaRPr/>
          </a:p>
        </p:txBody>
      </p:sp>
      <p:sp>
        <p:nvSpPr>
          <p:cNvPr id="462" name="Google Shape;462;p29"/>
          <p:cNvSpPr txBox="1"/>
          <p:nvPr/>
        </p:nvSpPr>
        <p:spPr>
          <a:xfrm>
            <a:off x="571500" y="4487167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Mechanism: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This is an INSTEAD OF trigger. It intercepts the INSERT command, checks the capacity of the specific aircraft assigned to the flight, and only proceeds if seats are available.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41240"/>
            <a:ext cx="5286375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0"/>
          <p:cNvSpPr txBox="1"/>
          <p:nvPr/>
        </p:nvSpPr>
        <p:spPr>
          <a:xfrm>
            <a:off x="1162050" y="476250"/>
            <a:ext cx="1098137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Triggers: Auditing</a:t>
            </a:r>
            <a:endParaRPr/>
          </a:p>
        </p:txBody>
      </p:sp>
      <p:sp>
        <p:nvSpPr>
          <p:cNvPr id="470" name="Google Shape;470;p30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2" name="Google Shape;472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19112"/>
            <a:ext cx="4476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0"/>
          <p:cNvSpPr txBox="1"/>
          <p:nvPr/>
        </p:nvSpPr>
        <p:spPr>
          <a:xfrm>
            <a:off x="571500" y="1504950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trg_LogBaggageStatusChange (AFTER UPDATE)</a:t>
            </a:r>
            <a:endParaRPr/>
          </a:p>
        </p:txBody>
      </p:sp>
      <p:sp>
        <p:nvSpPr>
          <p:cNvPr id="474" name="Google Shape;474;p30"/>
          <p:cNvSpPr txBox="1"/>
          <p:nvPr/>
        </p:nvSpPr>
        <p:spPr>
          <a:xfrm>
            <a:off x="571500" y="209550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Maintains a historical paper trail for baggage handling.</a:t>
            </a:r>
            <a:endParaRPr/>
          </a:p>
        </p:txBody>
      </p:sp>
      <p:sp>
        <p:nvSpPr>
          <p:cNvPr id="475" name="Google Shape;475;p30"/>
          <p:cNvSpPr txBox="1"/>
          <p:nvPr/>
        </p:nvSpPr>
        <p:spPr>
          <a:xfrm>
            <a:off x="571500" y="271269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Target: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Baggage Table</a:t>
            </a:r>
            <a:endParaRPr/>
          </a:p>
        </p:txBody>
      </p:sp>
      <p:sp>
        <p:nvSpPr>
          <p:cNvPr id="476" name="Google Shape;476;p30"/>
          <p:cNvSpPr txBox="1"/>
          <p:nvPr/>
        </p:nvSpPr>
        <p:spPr>
          <a:xfrm>
            <a:off x="571500" y="3158430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Logic: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Compares Deleted.Status (Old) vs Inserted.Status (New).</a:t>
            </a:r>
            <a:endParaRPr/>
          </a:p>
        </p:txBody>
      </p:sp>
      <p:sp>
        <p:nvSpPr>
          <p:cNvPr id="477" name="Google Shape;477;p30"/>
          <p:cNvSpPr txBox="1"/>
          <p:nvPr/>
        </p:nvSpPr>
        <p:spPr>
          <a:xfrm>
            <a:off x="571500" y="387846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Action: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If distinct, inserts a record into BaggageAudit.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7862"/>
            <a:ext cx="11049000" cy="2251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13807"/>
            <a:ext cx="11049000" cy="225162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31"/>
          <p:cNvSpPr txBox="1"/>
          <p:nvPr/>
        </p:nvSpPr>
        <p:spPr>
          <a:xfrm>
            <a:off x="1162050" y="476250"/>
            <a:ext cx="1098137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Database Cursors</a:t>
            </a:r>
            <a:endParaRPr/>
          </a:p>
        </p:txBody>
      </p:sp>
      <p:sp>
        <p:nvSpPr>
          <p:cNvPr id="486" name="Google Shape;486;p31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8" name="Google Shape;488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19112"/>
            <a:ext cx="4476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31"/>
          <p:cNvSpPr txBox="1"/>
          <p:nvPr/>
        </p:nvSpPr>
        <p:spPr>
          <a:xfrm>
            <a:off x="571500" y="148984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Used for row-by-row operations where set-based logic is insufficient.</a:t>
            </a:r>
            <a:endParaRPr dirty="0"/>
          </a:p>
        </p:txBody>
      </p:sp>
      <p:sp>
        <p:nvSpPr>
          <p:cNvPr id="490" name="Google Shape;490;p31"/>
          <p:cNvSpPr txBox="1"/>
          <p:nvPr/>
        </p:nvSpPr>
        <p:spPr>
          <a:xfrm>
            <a:off x="819150" y="2960340"/>
            <a:ext cx="10553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Context: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Batch processing job.</a:t>
            </a:r>
            <a:endParaRPr/>
          </a:p>
        </p:txBody>
      </p:sp>
      <p:sp>
        <p:nvSpPr>
          <p:cNvPr id="491" name="Google Shape;491;p31"/>
          <p:cNvSpPr txBox="1"/>
          <p:nvPr/>
        </p:nvSpPr>
        <p:spPr>
          <a:xfrm>
            <a:off x="819150" y="3406080"/>
            <a:ext cx="105537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Operation: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Selects all Bookings with PaymentStatus = 'Pending' for a specific flight. Iterates through them one by one to simulate verification and updates them to 'Completed'.</a:t>
            </a:r>
            <a:endParaRPr/>
          </a:p>
        </p:txBody>
      </p:sp>
      <p:sp>
        <p:nvSpPr>
          <p:cNvPr id="492" name="Google Shape;492;p31"/>
          <p:cNvSpPr txBox="1"/>
          <p:nvPr/>
        </p:nvSpPr>
        <p:spPr>
          <a:xfrm>
            <a:off x="819150" y="5495925"/>
            <a:ext cx="10553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Context: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Display System.</a:t>
            </a:r>
            <a:endParaRPr/>
          </a:p>
        </p:txBody>
      </p:sp>
      <p:sp>
        <p:nvSpPr>
          <p:cNvPr id="493" name="Google Shape;493;p31"/>
          <p:cNvSpPr txBox="1"/>
          <p:nvPr/>
        </p:nvSpPr>
        <p:spPr>
          <a:xfrm>
            <a:off x="819150" y="5943451"/>
            <a:ext cx="105537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Operation:</a:t>
            </a: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Iterates through flights marked as 'Scheduled' to print details to the console/log. Useful for generating linear feed data.</a:t>
            </a:r>
            <a:endParaRPr/>
          </a:p>
        </p:txBody>
      </p:sp>
      <p:pic>
        <p:nvPicPr>
          <p:cNvPr id="494" name="Google Shape;494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4650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1"/>
          <p:cNvSpPr txBox="1"/>
          <p:nvPr/>
        </p:nvSpPr>
        <p:spPr>
          <a:xfrm>
            <a:off x="1162050" y="2369790"/>
            <a:ext cx="299037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cursor_PendingPayments</a:t>
            </a:r>
            <a:endParaRPr/>
          </a:p>
        </p:txBody>
      </p:sp>
      <p:pic>
        <p:nvPicPr>
          <p:cNvPr id="496" name="Google Shape;496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500241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1"/>
          <p:cNvSpPr txBox="1"/>
          <p:nvPr/>
        </p:nvSpPr>
        <p:spPr>
          <a:xfrm>
            <a:off x="1162050" y="4907160"/>
            <a:ext cx="23802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cursor_ActiveFlights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2"/>
          <p:cNvSpPr txBox="1"/>
          <p:nvPr/>
        </p:nvSpPr>
        <p:spPr>
          <a:xfrm>
            <a:off x="1066800" y="476250"/>
            <a:ext cx="1108138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Performance Indexes</a:t>
            </a:r>
            <a:endParaRPr/>
          </a:p>
        </p:txBody>
      </p:sp>
      <p:sp>
        <p:nvSpPr>
          <p:cNvPr id="504" name="Google Shape;504;p32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6" name="Google Shape;506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9112"/>
            <a:ext cx="3524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2"/>
          <p:cNvSpPr txBox="1"/>
          <p:nvPr/>
        </p:nvSpPr>
        <p:spPr>
          <a:xfrm>
            <a:off x="571500" y="2582167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Five Non-Clustered Indexes created to optimize specific query patterns.</a:t>
            </a:r>
            <a:endParaRPr/>
          </a:p>
        </p:txBody>
      </p:sp>
      <p:graphicFrame>
        <p:nvGraphicFramePr>
          <p:cNvPr id="508" name="Google Shape;508;p32"/>
          <p:cNvGraphicFramePr/>
          <p:nvPr/>
        </p:nvGraphicFramePr>
        <p:xfrm>
          <a:off x="571500" y="3027908"/>
          <a:ext cx="11039475" cy="2447875"/>
        </p:xfrm>
        <a:graphic>
          <a:graphicData uri="http://schemas.openxmlformats.org/drawingml/2006/table">
            <a:tbl>
              <a:tblPr firstRow="1" bandRow="1">
                <a:noFill/>
                <a:tableStyleId>{D8E1ED0B-E05B-49ED-94FA-2EFB16C0CED4}</a:tableStyleId>
              </a:tblPr>
              <a:tblGrid>
                <a:gridCol w="334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Index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Target Column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Optimization Goal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IX_Flights_DepartureDateTime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Flights(DepartureDateTime)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Speeds up "Upcoming Flights" and schedule range queries.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IX_Flights_FlightNumber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Flights(FlightNumber)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Optimizes search by Flight Code (e.g., 'AI101').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IX_Bookings_PassengerID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Bookings(PassengerID)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Fast retrieval of "My Bookings" for a passenger.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IX_Bookings_FlightID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Bookings(FlightID)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Essential for calculating occupancy/seat counts quickly.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IX_Passengers_Email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Passengers(Email)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Accelerates login and user lookup by email address.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9" name="Google Shape;509;p32"/>
          <p:cNvSpPr/>
          <p:nvPr/>
        </p:nvSpPr>
        <p:spPr>
          <a:xfrm>
            <a:off x="576262" y="3447008"/>
            <a:ext cx="3347293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2"/>
          <p:cNvSpPr/>
          <p:nvPr/>
        </p:nvSpPr>
        <p:spPr>
          <a:xfrm>
            <a:off x="3923555" y="3447008"/>
            <a:ext cx="2579637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2"/>
          <p:cNvSpPr/>
          <p:nvPr/>
        </p:nvSpPr>
        <p:spPr>
          <a:xfrm>
            <a:off x="6503193" y="3447008"/>
            <a:ext cx="5112543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2"/>
          <p:cNvSpPr/>
          <p:nvPr/>
        </p:nvSpPr>
        <p:spPr>
          <a:xfrm>
            <a:off x="576262" y="3861345"/>
            <a:ext cx="334729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2"/>
          <p:cNvSpPr/>
          <p:nvPr/>
        </p:nvSpPr>
        <p:spPr>
          <a:xfrm>
            <a:off x="3923555" y="3861345"/>
            <a:ext cx="257963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2"/>
          <p:cNvSpPr/>
          <p:nvPr/>
        </p:nvSpPr>
        <p:spPr>
          <a:xfrm>
            <a:off x="6503193" y="3861345"/>
            <a:ext cx="511254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2"/>
          <p:cNvSpPr/>
          <p:nvPr/>
        </p:nvSpPr>
        <p:spPr>
          <a:xfrm>
            <a:off x="576262" y="4261395"/>
            <a:ext cx="334729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2"/>
          <p:cNvSpPr/>
          <p:nvPr/>
        </p:nvSpPr>
        <p:spPr>
          <a:xfrm>
            <a:off x="3923555" y="4261395"/>
            <a:ext cx="257963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2"/>
          <p:cNvSpPr/>
          <p:nvPr/>
        </p:nvSpPr>
        <p:spPr>
          <a:xfrm>
            <a:off x="6503193" y="4261395"/>
            <a:ext cx="511254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2"/>
          <p:cNvSpPr/>
          <p:nvPr/>
        </p:nvSpPr>
        <p:spPr>
          <a:xfrm>
            <a:off x="576262" y="4661445"/>
            <a:ext cx="334729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2"/>
          <p:cNvSpPr/>
          <p:nvPr/>
        </p:nvSpPr>
        <p:spPr>
          <a:xfrm>
            <a:off x="3923555" y="4661445"/>
            <a:ext cx="257963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2"/>
          <p:cNvSpPr/>
          <p:nvPr/>
        </p:nvSpPr>
        <p:spPr>
          <a:xfrm>
            <a:off x="6503193" y="4661445"/>
            <a:ext cx="511254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2"/>
          <p:cNvSpPr/>
          <p:nvPr/>
        </p:nvSpPr>
        <p:spPr>
          <a:xfrm>
            <a:off x="576262" y="5061495"/>
            <a:ext cx="334729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2"/>
          <p:cNvSpPr/>
          <p:nvPr/>
        </p:nvSpPr>
        <p:spPr>
          <a:xfrm>
            <a:off x="3923555" y="5061495"/>
            <a:ext cx="257963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2"/>
          <p:cNvSpPr/>
          <p:nvPr/>
        </p:nvSpPr>
        <p:spPr>
          <a:xfrm>
            <a:off x="6503193" y="5061495"/>
            <a:ext cx="5112543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33"/>
          <p:cNvSpPr txBox="1"/>
          <p:nvPr/>
        </p:nvSpPr>
        <p:spPr>
          <a:xfrm>
            <a:off x="295275" y="1739354"/>
            <a:ext cx="1160145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Thankyou!</a:t>
            </a:r>
            <a:endParaRPr dirty="0"/>
          </a:p>
        </p:txBody>
      </p:sp>
      <p:sp>
        <p:nvSpPr>
          <p:cNvPr id="531" name="Google Shape;531;p33"/>
          <p:cNvSpPr/>
          <p:nvPr/>
        </p:nvSpPr>
        <p:spPr>
          <a:xfrm>
            <a:off x="5619750" y="2695575"/>
            <a:ext cx="952500" cy="5715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3"/>
          <p:cNvSpPr txBox="1"/>
          <p:nvPr/>
        </p:nvSpPr>
        <p:spPr>
          <a:xfrm>
            <a:off x="2286000" y="3038475"/>
            <a:ext cx="7620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The Air Vista database successfully implements a normalized schema, enforced integrity via triggers, robust reporting via views/procedures, and optimized performance using strategic indexing.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1291</Words>
  <Application>Microsoft Office PowerPoint</Application>
  <PresentationFormat>Widescreen</PresentationFormat>
  <Paragraphs>296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Calibri</vt:lpstr>
      <vt:lpstr>JetBrains Mono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Bakshish Kaur</dc:creator>
  <cp:lastModifiedBy>Bakshish Kaur</cp:lastModifiedBy>
  <cp:revision>5</cp:revision>
  <dcterms:modified xsi:type="dcterms:W3CDTF">2025-12-04T17:02:50Z</dcterms:modified>
  <cp:contentStatus/>
</cp:coreProperties>
</file>